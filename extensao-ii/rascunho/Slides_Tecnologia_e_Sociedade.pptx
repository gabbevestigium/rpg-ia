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Cumprimentar o público, agradecer a presença, dizer quem somos e que a ideia é uma conversa, com espaço para perguntas no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os objetivos da ACEx de forma simples. Perguntar à plateia: quem aqui usou o celular nas últimas horas?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o caminho da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exemplos para a plateia. Citar casos próximos: WhatsApp, Pix, aplicativos de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que a tecnologia economiza tempo e dinheiro. Pode usar imagens dos aplicativos (citar fonte).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que até pequenos negócios usam tecnologia: WhatsApp Business, redes sociais, maquininhas.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 exemplos do ramo de quem está na plateia, se possível.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Resumir os benefícios.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Equilibrar: a tecnologia não é boa nem má em si; depende de como usamos.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 dicas práticas. Mencionar a LGPD (Lei 13.709/2018) como proteção dos dados pessoais.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Momento muito útil para a comunidade. Convidar quem já viu um golpe a contar.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a mudança traz medo, mas também oportunidade. Não prometer números sem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Reforçar que não é só para quem é 'de computador'.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da própria experiência de estudar a distância.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Confirmar opções existentes na cidade antes da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que a tecnologia reduz a barreira para abrir um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um exemplo concreto da região, se houver.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Ligar com o objetivo social da extensão: levar conhecimento a quem precisa.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Recapitular as ideias principais.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tempo para perguntas e anotar necessidades da comunidade (objetivo da ACEx). Depois, passar a lista de presença e tirar fotos.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Verificar cada link e preencher a data de acesso antes de entregar.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Agradecer a presença.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Tecnologia e Sociedade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222222"/>
                </a:solidFill>
                <a:latin typeface="Arial"/>
              </a:defRPr>
            </a:pPr>
            <a:r>
              <a:t>• ACEx – Atividade Curricular de Extensão</a:t>
            </a:r>
          </a:p>
          <a:p>
            <a:pPr>
              <a:spcAft>
                <a:spcPts val="1200"/>
              </a:spcAft>
              <a:defRPr sz="2600">
                <a:solidFill>
                  <a:srgbClr val="222222"/>
                </a:solidFill>
                <a:latin typeface="Arial"/>
              </a:defRPr>
            </a:pPr>
            <a:r>
              <a:t>• Apresentação para a comunidade</a:t>
            </a:r>
          </a:p>
          <a:p>
            <a:pPr>
              <a:spcAft>
                <a:spcPts val="1200"/>
              </a:spcAft>
              <a:defRPr sz="2600">
                <a:solidFill>
                  <a:srgbClr val="222222"/>
                </a:solidFill>
                <a:latin typeface="Arial"/>
              </a:defRPr>
            </a:pPr>
            <a:r>
              <a:t>• Apresentador(es): [NOME(S)]  ·  UNIPAR EAD  ·  [LOCAL], [DATA]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Por que estamos aqui?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Falar de como a tecnologia já faz parte do nosso dia a dia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Entender o que ela traz de bom e de ruim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Ver como ela muda o trabalho e as oportunidades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Descobrir como usá-la a nosso favor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Roteiro da conversa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222222"/>
                </a:solidFill>
                <a:latin typeface="Arial"/>
              </a:defRPr>
            </a:pPr>
            <a:r>
              <a:t>• 1. A tecnologia na vida das pessoas</a:t>
            </a:r>
          </a:p>
          <a:p>
            <a:pPr>
              <a:spcAft>
                <a:spcPts val="1200"/>
              </a:spcAft>
              <a:defRPr sz="2600">
                <a:solidFill>
                  <a:srgbClr val="222222"/>
                </a:solidFill>
                <a:latin typeface="Arial"/>
              </a:defRPr>
            </a:pPr>
            <a:r>
              <a:t>• 2. A tecnologia nas empresas</a:t>
            </a:r>
          </a:p>
          <a:p>
            <a:pPr>
              <a:spcAft>
                <a:spcPts val="1200"/>
              </a:spcAft>
              <a:defRPr sz="2600">
                <a:solidFill>
                  <a:srgbClr val="222222"/>
                </a:solidFill>
                <a:latin typeface="Arial"/>
              </a:defRPr>
            </a:pPr>
            <a:r>
              <a:t>• 3. Efeitos positivos e negativos</a:t>
            </a:r>
          </a:p>
          <a:p>
            <a:pPr>
              <a:spcAft>
                <a:spcPts val="1200"/>
              </a:spcAft>
              <a:defRPr sz="2600">
                <a:solidFill>
                  <a:srgbClr val="222222"/>
                </a:solidFill>
                <a:latin typeface="Arial"/>
              </a:defRPr>
            </a:pPr>
            <a:r>
              <a:t>• 4. Como se proteger e usar melhor</a:t>
            </a:r>
          </a:p>
          <a:p>
            <a:pPr>
              <a:spcAft>
                <a:spcPts val="1200"/>
              </a:spcAft>
              <a:defRPr sz="2600">
                <a:solidFill>
                  <a:srgbClr val="222222"/>
                </a:solidFill>
                <a:latin typeface="Arial"/>
              </a:defRPr>
            </a:pPr>
            <a:r>
              <a:t>• 5. Mercado de trabalho</a:t>
            </a:r>
          </a:p>
          <a:p>
            <a:pPr>
              <a:spcAft>
                <a:spcPts val="1200"/>
              </a:spcAft>
              <a:defRPr sz="2600">
                <a:solidFill>
                  <a:srgbClr val="222222"/>
                </a:solidFill>
                <a:latin typeface="Arial"/>
              </a:defRPr>
            </a:pPr>
            <a:r>
              <a:t>• 6. Estudar sempre: tecnologia como aliada</a:t>
            </a:r>
          </a:p>
          <a:p>
            <a:pPr>
              <a:spcAft>
                <a:spcPts val="1200"/>
              </a:spcAft>
              <a:defRPr sz="2600">
                <a:solidFill>
                  <a:srgbClr val="222222"/>
                </a:solidFill>
                <a:latin typeface="Arial"/>
              </a:defRPr>
            </a:pPr>
            <a:r>
              <a:t>• 7. Empreender com tecnologia</a:t>
            </a:r>
          </a:p>
          <a:p>
            <a:pPr>
              <a:spcAft>
                <a:spcPts val="1200"/>
              </a:spcAft>
              <a:defRPr sz="2600">
                <a:solidFill>
                  <a:srgbClr val="222222"/>
                </a:solidFill>
                <a:latin typeface="Arial"/>
              </a:defRPr>
            </a:pPr>
            <a:r>
              <a:t>• 8. Dúvidas e conversa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1. A tecnologia na vida das pessoas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Comunicação instantânea: mensagens, chamadas de vídeo, redes sociais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Informação ao alcance de todos: pesquisa, notícias, tutoriais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Serviços digitais: banco, compras, transporte, saúde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Entretenimento: streaming, jogos, música, e-books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Exemplos do cotidiano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Pix e aplicativos de banco: pagar sem filas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Telemedicina: consulta sem sair de casa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Educação a distância: estudar no seu horário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Mapas e apps de transporte: menos tempo perdido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2. A tecnologia nas empresas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Automatizar tarefas repetitivas e reduzir erros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Analisar dados para decidir melhor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Vender online e alcançar mais clientes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Atender 24h com chatbots e canais digitais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Exemplos nas empresas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Indústria: sensores e manutenção preventiva evitam paradas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Comércio: e-commerce, pagamentos digitais, controle de estoque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Agro: drones, sensores e dados para plantar e colher melhor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Serviços: agendamento online e atendimento automatizado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3. Pontos positivos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Mais conectividade e acesso à informação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Mais eficiência, menos custo e menos erros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Educação e saúde chegando a quem está longe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Novas ideias, negócios e profissões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3. Pontos de atenção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Dependência e uso excessivo (saúde mental e sono)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Privacidade e segurança de dados, golpes digitais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Fake news e informações sem fonte confiável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Desigualdade: nem todos têm acesso e preparo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Descarte incorreto de equipamentos eletrônicos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4. Como minimizar os pontos negativos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Definir horários de uso e pausas das telas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Senhas fortes, verificação em duas etapas e desconfiar de links suspeitos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Conferir a fonte antes de compartilhar uma notícia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Cuidar do que se publica nas redes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Descartar eletrônicos em pontos de coleta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Cuidado com golpes digitais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Ninguém sério pede senha ou código por mensagem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Desconfie de promoções boas demais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Confirme o contato por outro canal antes de pagar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Em dúvida, pare e pergunte a alguém de confiança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5. Tecnologia e mercado de 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Muitas tarefas estão sendo automatizadas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Novas funções surgem: dados, suporte, vendas digitais, automação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Empresas relatam dificuldade de encontrar gente preparada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Quem se qualifica tem mais chances e melhor renda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Profissões e habilidades em alta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Análise de dados e tecnologia da informação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Atendimento e vendas digitais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Manutenção e operação de equipamentos automatizados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Habilidades humanas: comunicação, criatividade, aprender a aprender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6. Formação constante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Aprender não termina no diploma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Para conseguir emprego, manter o atual ou mudar de área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Cursos online gratuitos, EAD, capacitações em instituições locais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Tecnologia como aliada: ela ajuda a estudar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Onde aprender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Plataformas de cursos online e canais educativos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Cursos de entidades como SENAI, SENAC e Sebrae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Graduação e cursos livres a distância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Bibliotecas, centros comunitários e grupos de estudo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7. Tecnologia e empreendedorismo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Começar com pouco: redes sociais, WhatsApp Business, loja virtual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Vender para além do bairro e da cidade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Receber por Pix, cartão e carteiras digitais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Usar dados e feedback para melhorar o negócio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Exemplo: pequeno negócio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Catálogo no WhatsApp e Instagram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Pedidos e agendamentos online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Controle financeiro em aplicativo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Entrega por app ou parceiros locais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Inclusão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Tecnologia pode aproximar ou afastar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Quem não tem acesso ou preparo fica para trás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Ajudar familiares e vizinhos a aprender também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A comunidade tem papel nisso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Tecnologia está em tudo: pessoas e empresas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Traz benefícios e riscos: precisamos de consciência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Estudar sempre é o melhor caminho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  <a:latin typeface="Arial"/>
              </a:defRPr>
            </a:pPr>
            <a:r>
              <a:t>• Pode ser aliada de quem quer trabalhar ou empreender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Dúvidas e conversa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222222"/>
                </a:solidFill>
                <a:latin typeface="Arial"/>
              </a:defRPr>
            </a:pPr>
            <a:r>
              <a:t>• O que vocês já usam no dia a dia?</a:t>
            </a:r>
          </a:p>
          <a:p>
            <a:pPr>
              <a:spcAft>
                <a:spcPts val="1200"/>
              </a:spcAft>
              <a:defRPr sz="2800">
                <a:solidFill>
                  <a:srgbClr val="222222"/>
                </a:solidFill>
                <a:latin typeface="Arial"/>
              </a:defRPr>
            </a:pPr>
            <a:r>
              <a:t>• Alguma dificuldade com tecnologia?</a:t>
            </a:r>
          </a:p>
          <a:p>
            <a:pPr>
              <a:spcAft>
                <a:spcPts val="1200"/>
              </a:spcAft>
              <a:defRPr sz="2800">
                <a:solidFill>
                  <a:srgbClr val="222222"/>
                </a:solidFill>
                <a:latin typeface="Arial"/>
              </a:defRPr>
            </a:pPr>
            <a:r>
              <a:t>• Que curso ou ajuda seria útil na comunidade?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Referências (preencher data de acesso)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t>• BRASIL. Lei nº 13.709/2018 (LGPD). planalto.gov.br/ccivil_03/_ato2015-2018/2018/lei/l13709.htm. Acesso em: [DATA]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t>• CETIC.br. Pesquisa TIC Domicílios. cetic.br/pt/pesquisa/domicilios/. Acesso em: [DATA]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t>• IBGE. PNAD Contínua – Acesso à Internet e à televisão e posse de celular. ibge.gov.br. Acesso em: [DATA]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t>• WORLD ECONOMIC FORUM. Future of Jobs Report. weforum.org/publications/. Acesso em: [DATA]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t>• SEBRAE. Empreendedorismo e transformação digital. sebrae.com.br. Acesso em: [DATA]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Referências – vídeos sugeridos na proposta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• Tecnologia – Vantagens x Desvantagens: youtu.be/jJy7xtA5zBA</a:t>
            </a:r>
          </a:p>
          <a:p>
            <a:pPr>
              <a:spcAft>
                <a:spcPts val="12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• A importância da tecnologia para os negócios: youtu.be/rzAupIsCrTE</a:t>
            </a:r>
          </a:p>
          <a:p>
            <a:pPr>
              <a:spcAft>
                <a:spcPts val="12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• Tecnologia da Informação e as organizações: youtu.be/l8UhUeIfYnA</a:t>
            </a:r>
          </a:p>
          <a:p>
            <a:pPr>
              <a:spcAft>
                <a:spcPts val="12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• O impacto da tecnologia no mercado de trabalho: youtu.be/V4O_gh87H5Y</a:t>
            </a:r>
          </a:p>
          <a:p>
            <a:pPr>
              <a:spcAft>
                <a:spcPts val="12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• Uma breve história da tecnologia: youtu.be/Hscw6Rxyutk</a:t>
            </a:r>
          </a:p>
          <a:p>
            <a:pPr>
              <a:spcAft>
                <a:spcPts val="12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• Todos com acesso em: [DATA]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5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222222"/>
                </a:solidFill>
                <a:latin typeface="Arial"/>
              </a:defRPr>
            </a:pPr>
            <a:r>
              <a:t>• Perguntas, sugestões e contatos: [SEU CONTATO]</a:t>
            </a:r>
          </a:p>
          <a:p>
            <a:pPr>
              <a:spcAft>
                <a:spcPts val="1200"/>
              </a:spcAft>
              <a:defRPr sz="2800">
                <a:solidFill>
                  <a:srgbClr val="222222"/>
                </a:solidFill>
                <a:latin typeface="Arial"/>
              </a:defRPr>
            </a:pPr>
            <a:r>
              <a:t>• Material elaborado para a ACEx – UNIPAR 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